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714d9291dd4a8b" /><Relationship Type="http://schemas.openxmlformats.org/officeDocument/2006/relationships/extended-properties" Target="/docProps/app.xml" Id="Rec12a3422b404a4e" /><Relationship Type="http://schemas.openxmlformats.org/officeDocument/2006/relationships/officeDocument" Target="/ppt/presentation.xml" Id="R3c73f6aa6b484b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405fd2f46e4471"/>
  </p:sldMasterIdLst>
  <p:notesMasterIdLst>
    <p:notesMasterId xmlns:r="http://schemas.openxmlformats.org/officeDocument/2006/relationships" r:id="R742d4c94e8a44be7"/>
  </p:notesMasterIdLst>
  <p:sldIdLst>
    <p:sldId xmlns:r="http://schemas.openxmlformats.org/officeDocument/2006/relationships" id="256" r:id="R82b207fede034e30"/>
    <p:sldId xmlns:r="http://schemas.openxmlformats.org/officeDocument/2006/relationships" id="257" r:id="R67734d9423b345d3"/>
    <p:sldId xmlns:r="http://schemas.openxmlformats.org/officeDocument/2006/relationships" id="258" r:id="R1e43ebe6226a4705"/>
    <p:sldId xmlns:r="http://schemas.openxmlformats.org/officeDocument/2006/relationships" id="259" r:id="Ra504afafa3d040e7"/>
    <p:sldId xmlns:r="http://schemas.openxmlformats.org/officeDocument/2006/relationships" id="260" r:id="R8922055d869649a0"/>
    <p:sldId xmlns:r="http://schemas.openxmlformats.org/officeDocument/2006/relationships" id="261" r:id="R5fa013a70b914d82"/>
    <p:sldId xmlns:r="http://schemas.openxmlformats.org/officeDocument/2006/relationships" id="262" r:id="R3afa169a13384059"/>
    <p:sldId xmlns:r="http://schemas.openxmlformats.org/officeDocument/2006/relationships" id="263" r:id="R8d9b50c3af4c4402"/>
    <p:sldId xmlns:r="http://schemas.openxmlformats.org/officeDocument/2006/relationships" id="264" r:id="Ra3fa1b32fd2b4029"/>
    <p:sldId xmlns:r="http://schemas.openxmlformats.org/officeDocument/2006/relationships" id="265" r:id="Re0d4aa945f924932"/>
    <p:sldId xmlns:r="http://schemas.openxmlformats.org/officeDocument/2006/relationships" id="266" r:id="R80ba34f9cc744915"/>
    <p:sldId xmlns:r="http://schemas.openxmlformats.org/officeDocument/2006/relationships" id="267" r:id="R8b11cf8410e34dc2"/>
    <p:sldId xmlns:r="http://schemas.openxmlformats.org/officeDocument/2006/relationships" id="268" r:id="Reb1e0a7bf5c546d6"/>
    <p:sldId xmlns:r="http://schemas.openxmlformats.org/officeDocument/2006/relationships" id="269" r:id="Rca7521d53ed448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004a95c77648a9" /><Relationship Type="http://schemas.openxmlformats.org/officeDocument/2006/relationships/slideMaster" Target="/ppt/slideMasters/slideMaster1.xml" Id="Rda405fd2f46e4471" /><Relationship Type="http://schemas.openxmlformats.org/officeDocument/2006/relationships/notesMaster" Target="/ppt/notesMasters/notesMaster1.xml" Id="R742d4c94e8a44be7" /><Relationship Type="http://schemas.openxmlformats.org/officeDocument/2006/relationships/presProps" Target="/ppt/presProps.xml" Id="R5c44aedebc4c409e" /><Relationship Type="http://schemas.openxmlformats.org/officeDocument/2006/relationships/tableStyles" Target="/ppt/tableStyles.xml" Id="Rcd0e38f7e54c4ac8" /><Relationship Type="http://schemas.openxmlformats.org/officeDocument/2006/relationships/slide" Target="/ppt/slides/slide1.xml" Id="R82b207fede034e30" /><Relationship Type="http://schemas.openxmlformats.org/officeDocument/2006/relationships/slide" Target="/ppt/slides/slide2.xml" Id="R67734d9423b345d3" /><Relationship Type="http://schemas.openxmlformats.org/officeDocument/2006/relationships/slide" Target="/ppt/slides/slide3.xml" Id="R1e43ebe6226a4705" /><Relationship Type="http://schemas.openxmlformats.org/officeDocument/2006/relationships/slide" Target="/ppt/slides/slide4.xml" Id="Ra504afafa3d040e7" /><Relationship Type="http://schemas.openxmlformats.org/officeDocument/2006/relationships/slide" Target="/ppt/slides/slide5.xml" Id="R8922055d869649a0" /><Relationship Type="http://schemas.openxmlformats.org/officeDocument/2006/relationships/slide" Target="/ppt/slides/slide6.xml" Id="R5fa013a70b914d82" /><Relationship Type="http://schemas.openxmlformats.org/officeDocument/2006/relationships/slide" Target="/ppt/slides/slide7.xml" Id="R3afa169a13384059" /><Relationship Type="http://schemas.openxmlformats.org/officeDocument/2006/relationships/slide" Target="/ppt/slides/slide8.xml" Id="R8d9b50c3af4c4402" /><Relationship Type="http://schemas.openxmlformats.org/officeDocument/2006/relationships/slide" Target="/ppt/slides/slide9.xml" Id="Ra3fa1b32fd2b4029" /><Relationship Type="http://schemas.openxmlformats.org/officeDocument/2006/relationships/slide" Target="/ppt/slides/slide10.xml" Id="Re0d4aa945f924932" /><Relationship Type="http://schemas.openxmlformats.org/officeDocument/2006/relationships/slide" Target="/ppt/slides/slide11.xml" Id="R80ba34f9cc744915" /><Relationship Type="http://schemas.openxmlformats.org/officeDocument/2006/relationships/slide" Target="/ppt/slides/slide12.xml" Id="R8b11cf8410e34dc2" /><Relationship Type="http://schemas.openxmlformats.org/officeDocument/2006/relationships/slide" Target="/ppt/slides/slide13.xml" Id="Reb1e0a7bf5c546d6" /><Relationship Type="http://schemas.openxmlformats.org/officeDocument/2006/relationships/slide" Target="/ppt/slides/slide14.xml" Id="Rca7521d53ed448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2ee9e1d9c443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bf9e78c48442b7" /><Relationship Type="http://schemas.openxmlformats.org/officeDocument/2006/relationships/notesMaster" Target="/ppt/notesMasters/notesMaster1.xml" Id="R73eb3dc9e69d44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39098f163247c1" /><Relationship Type="http://schemas.openxmlformats.org/officeDocument/2006/relationships/notesMaster" Target="/ppt/notesMasters/notesMaster1.xml" Id="R12ad80eb66124b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426326335f4066" /><Relationship Type="http://schemas.openxmlformats.org/officeDocument/2006/relationships/notesMaster" Target="/ppt/notesMasters/notesMaster1.xml" Id="Rc10227dc287a4c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a2ef04b68e439d" /><Relationship Type="http://schemas.openxmlformats.org/officeDocument/2006/relationships/notesMaster" Target="/ppt/notesMasters/notesMaster1.xml" Id="R6645465607124d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5182736a634681" /><Relationship Type="http://schemas.openxmlformats.org/officeDocument/2006/relationships/notesMaster" Target="/ppt/notesMasters/notesMaster1.xml" Id="Rb7e0c0ba11dd4c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e055ce84e148f9" /><Relationship Type="http://schemas.openxmlformats.org/officeDocument/2006/relationships/notesMaster" Target="/ppt/notesMasters/notesMaster1.xml" Id="R8c66233514b745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537e90ad7443ac" /><Relationship Type="http://schemas.openxmlformats.org/officeDocument/2006/relationships/notesMaster" Target="/ppt/notesMasters/notesMaster1.xml" Id="R78c7427ffeb24a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47a5c0c1544460" /><Relationship Type="http://schemas.openxmlformats.org/officeDocument/2006/relationships/notesMaster" Target="/ppt/notesMasters/notesMaster1.xml" Id="Ra96416fe358943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60046647294fb5" /><Relationship Type="http://schemas.openxmlformats.org/officeDocument/2006/relationships/notesMaster" Target="/ppt/notesMasters/notesMaster1.xml" Id="Rdc14ed0b46e643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ab1b5d893d4ca3" /><Relationship Type="http://schemas.openxmlformats.org/officeDocument/2006/relationships/notesMaster" Target="/ppt/notesMasters/notesMaster1.xml" Id="Re80ac031003b47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24b265e175478c" /><Relationship Type="http://schemas.openxmlformats.org/officeDocument/2006/relationships/notesMaster" Target="/ppt/notesMasters/notesMaster1.xml" Id="R6b3633a1348c49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6cb96597614389" /><Relationship Type="http://schemas.openxmlformats.org/officeDocument/2006/relationships/notesMaster" Target="/ppt/notesMasters/notesMaster1.xml" Id="Rae3ac2ed6a9842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7d0254f9084fbb" /><Relationship Type="http://schemas.openxmlformats.org/officeDocument/2006/relationships/notesMaster" Target="/ppt/notesMasters/notesMaster1.xml" Id="Rb87fbe04bc534d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ea0dd8906e4e56" /><Relationship Type="http://schemas.openxmlformats.org/officeDocument/2006/relationships/notesMaster" Target="/ppt/notesMasters/notesMaster1.xml" Id="R2581579084a045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thiệu đề tài. Không mua lại là nhãn proxy trong cửa sổ 180 ngày. Nguồn: LabF CourseProject và mã nguồn nhóm 5. https://github.com/hazymoon873373-droid/olist-customer-analytics-nhom5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Huy_ThuThap_Olist/dataset/runs/20261019T171446Z_e35970/metadata. Olist Kaggle https://www.kaggle.com/datasets/olistbr/brazilian-ecommerce ; IBGE https://servicodados.ibge.gov.br/api/docs/localidades. Tổng raw Olist 1.550.922 dòng, không cộng 27 bang IBGE vào số này.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các README của 5 thư mục thành viên. Trách nhiệm kỹ thuật khác với ghi công tự viết mã; thành viên cần tự xác nhận và chuẩn bị vấn đáp.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Thien_ETL_MongoDB/Mongodb.js và processed. ID là string; customer_id khác customer_unique_id. Bảng đơn cấp order_id cần tổng hợp riêng item/payment/review trước join.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Thien_ETL_MongoDB/clean_olist.py, processed/audit_report.csv. Một đơn có thể mang nhiều cờ, không cộng các cờ để suy số đơn lỗi duy nhất.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Thien_ETL_MongoDB/evidence/database_verification.json và backup_restore.json. Lần chạy là local MongoDB 8.0.34, không phải Atlas. mongorestore dùng namespace riêng, không --drop. https://www.mongodb.com/docs/database-tools/mongorestore/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tam_eda/handover_v3/kpi_summary_tam.csv. csat_on_time=4.293879400033016, csat_late=2.5644992134242264. Chỉ các đơn valid_delay_kpi=true có review. Đây là tương quan quan sát, không kết luận nhân quả.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tam_eda/handover_v3/kmeans_clusters_summary.csv và Tho_RFM_KMeans/outputs/model_metrics.json. RFM từ đơn delivered đến hết 30/08/2018, 93.358 khách. Sáu nhóm RFM quy tắc khác bốn cụm K-Means. k=4 không tối ưu silhouette trong mọi 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tam_eda/handover_v3/metrics.json và validation_protocol.json. Test T0 2018-03-01 00:00; observation_end_exclusive 2018-08-31 giả định. Nhãn churn=1 không mua lại, 0 mua lại. 21 khách overlap train/test theo thời gian.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tam_eda/handover_v3/metrics.json. RF threshold0.5: confusion [[0,48],[0,896]] với thứ tự0=mua lại,1=không mua lại. AP=Average Precision, không phải PR trapezoidal AUC. Temporal validation không đủ hai lớp; giữ RF/.5 baseline và không tối ưu trên test đã xem.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Tho_Machine_Learning/Tho_Order_Anomaly/outputs/model_metrics.json và order_anomaly_scores.csv. 200cây,max_samples4096,seed42,contamination.01. Jaccardseed7vs42 .7953488. https://scikit-learn.org/stable/modules/generated/sklearn.ensemble.IsolationForest.html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ảnh chụp chạy thật reports/figures/web_dashboard.jpg và mã nguồn Ngan_Web. Lịch sử Olist read-only, SQLite chăm sóc riêng. Google cần cấu hình secret riêng. PowerBI chỉ tải PBIX, không nhúng online.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kết quả unittest của nhóm và evidence MongoDB. 7+6+12+7+18+9+26+28=113 Python tests; JavaScript mock riêng. Nội dung report và nguồn dữ liệu giữ ở cấu trúc gói LabF. Chữ ký/thông tin chưa cung cấp để trống, không ký thay.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kpi_summary_tam.csv, model_metrics của nhóm, báo cáo đồ án. Không có thử nghiệm marketing hoặc chi phí để khẳng định ROI. Video là tùy chọn theo LabF, chưa sản xuất.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e5d1ad04c341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256c7ed34847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61e695ba14d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065507b0dc49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1af000ed142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4e8b8d2b014d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08B5EC-9785-45B6-9ACB-21FD5547E9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B87F96-A587-4F25-8EB9-92D3575BB4B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90E2324-F760-411F-9890-0D8E306E68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8EB400-62B4-470A-87B2-2C3CFD73BB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3E1339F-583B-4CFF-AAD2-8ABB5634F1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CF457DD-A51C-4203-995C-8D5A7B051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37FF50-8937-4601-BF2A-395D0BD225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1336E7-0B24-4523-B14F-AFD9AC3080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C8A811-91FC-49D4-970D-5171BB50CB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86E154-8DA4-4918-9FCC-84BA42443F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70ea5951d04ad1" /><Relationship Type="http://schemas.openxmlformats.org/officeDocument/2006/relationships/slideLayout" Target="/ppt/slideLayouts/slideLayout1.xml" Id="Ra0ee6b3ec1a147f6" /><Relationship Type="http://schemas.openxmlformats.org/officeDocument/2006/relationships/slideLayout" Target="/ppt/slideLayouts/slideLayout2.xml" Id="R2b107a44b9d647d3" /><Relationship Type="http://schemas.openxmlformats.org/officeDocument/2006/relationships/slideLayout" Target="/ppt/slideLayouts/slideLayout3.xml" Id="R35e8cf725f204be8" /><Relationship Type="http://schemas.openxmlformats.org/officeDocument/2006/relationships/slideLayout" Target="/ppt/slideLayouts/slideLayout4.xml" Id="R60584058ba9c4aa0" /><Relationship Type="http://schemas.openxmlformats.org/officeDocument/2006/relationships/slideLayout" Target="/ppt/slideLayouts/slideLayout5.xml" Id="Rfc8d4650d5544f66" /><Relationship Type="http://schemas.openxmlformats.org/officeDocument/2006/relationships/slideLayout" Target="/ppt/slideLayouts/slideLayout6.xml" Id="R0f45f68d9f704b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ee6b3ec1a147f6"/>
    <p:sldLayoutId xmlns:r="http://schemas.openxmlformats.org/officeDocument/2006/relationships" id="2147483650" r:id="R2b107a44b9d647d3"/>
    <p:sldLayoutId xmlns:r="http://schemas.openxmlformats.org/officeDocument/2006/relationships" id="2147483651" r:id="R35e8cf725f204be8"/>
    <p:sldLayoutId xmlns:r="http://schemas.openxmlformats.org/officeDocument/2006/relationships" id="2147483652" r:id="R60584058ba9c4aa0"/>
    <p:sldLayoutId xmlns:r="http://schemas.openxmlformats.org/officeDocument/2006/relationships" id="2147483653" r:id="Rfc8d4650d5544f66"/>
    <p:sldLayoutId xmlns:r="http://schemas.openxmlformats.org/officeDocument/2006/relationships" id="2147483654" r:id="R0f45f68d9f704b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d2d07cae394673" /><Relationship Type="http://schemas.openxmlformats.org/officeDocument/2006/relationships/notesSlide" Target="/ppt/notesSlides/notesSlide1.xml" Id="Raff8f8de7e9c4c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9addda73e14ae7" /><Relationship Type="http://schemas.openxmlformats.org/officeDocument/2006/relationships/notesSlide" Target="/ppt/notesSlides/notesSlide2.xml" Id="Rce9459a918734b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3a21f1b79e4c1d" /><Relationship Type="http://schemas.openxmlformats.org/officeDocument/2006/relationships/notesSlide" Target="/ppt/notesSlides/notesSlide3.xml" Id="R54ae99bb8bc741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2a0913b3224731" /><Relationship Type="http://schemas.openxmlformats.org/officeDocument/2006/relationships/notesSlide" Target="/ppt/notesSlides/notesSlide4.xml" Id="Rbeb0b437163945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afff5921c6469a" /><Relationship Type="http://schemas.openxmlformats.org/officeDocument/2006/relationships/notesSlide" Target="/ppt/notesSlides/notesSlide5.xml" Id="R85a7d1dfadd049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9d1fa2a62b4a9e" /><Relationship Type="http://schemas.openxmlformats.org/officeDocument/2006/relationships/notesSlide" Target="/ppt/notesSlides/notesSlide6.xml" Id="R23b7fdb393844b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a9483f50274e99" /><Relationship Type="http://schemas.openxmlformats.org/officeDocument/2006/relationships/chart" Target="/ppt/slides/charts/chart1.xml" Id="R30ba020f06eb415f" /><Relationship Type="http://schemas.openxmlformats.org/officeDocument/2006/relationships/notesSlide" Target="/ppt/notesSlides/notesSlide7.xml" Id="R547bc7fe4c144e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d96200b4764456" /><Relationship Type="http://schemas.openxmlformats.org/officeDocument/2006/relationships/chart" Target="/ppt/slides/charts/chart2.xml" Id="Rf79aed97b72c48b2" /><Relationship Type="http://schemas.openxmlformats.org/officeDocument/2006/relationships/notesSlide" Target="/ppt/notesSlides/notesSlide8.xml" Id="R844d6eef41594f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99b936e3064505" /><Relationship Type="http://schemas.openxmlformats.org/officeDocument/2006/relationships/notesSlide" Target="/ppt/notesSlides/notesSlide9.xml" Id="R8231aa14420a48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8d7caf5fd34f91" /><Relationship Type="http://schemas.openxmlformats.org/officeDocument/2006/relationships/notesSlide" Target="/ppt/notesSlides/notesSlide10.xml" Id="R3938c52b92534c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617f5787044e5c" /><Relationship Type="http://schemas.openxmlformats.org/officeDocument/2006/relationships/notesSlide" Target="/ppt/notesSlides/notesSlide11.xml" Id="Rc08920866c3341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f8a543ae9943d5" /><Relationship Type="http://schemas.openxmlformats.org/officeDocument/2006/relationships/image" Target="/ppt/media/image.jpeg" Id="R1ade01faae0f4214" /><Relationship Type="http://schemas.openxmlformats.org/officeDocument/2006/relationships/notesSlide" Target="/ppt/notesSlides/notesSlide12.xml" Id="R9aa44cafc0af4f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157306339f4c55" /><Relationship Type="http://schemas.openxmlformats.org/officeDocument/2006/relationships/notesSlide" Target="/ppt/notesSlides/notesSlide13.xml" Id="R37af1a27bf5f489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81fb5099764cbe" /><Relationship Type="http://schemas.openxmlformats.org/officeDocument/2006/relationships/notesSlide" Target="/ppt/notesSlides/notesSlide14.xml" Id="R9c4c7dc243f9461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Điểm đánh giá trung bình</c:v>
          </c:tx>
          <c:spPr>
            <a:solidFill xmlns:a="http://schemas.openxmlformats.org/drawingml/2006/main">
              <a:srgbClr val="146B76"/>
            </a:solidFill>
          </c:spPr>
          <c:invertIfNegative val="0"/>
          <c:cat>
            <c:strLit>
              <c:ptCount val="2"/>
              <c:pt idx="0">
                <c:v>Đúng hạn</c:v>
              </c:pt>
              <c:pt idx="1">
                <c:v>Giao trễ</c:v>
              </c:pt>
            </c:strLit>
          </c:cat>
          <c:val>
            <c:numLit>
              <c:formatCode>0.00</c:formatCode>
              <c:ptCount val="2"/>
              <c:pt idx="0">
                <c:v>4.293879400033016</c:v>
              </c:pt>
              <c:pt idx="1">
                <c:v>2.5644992134242264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5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Số khách</c:v>
          </c:tx>
          <c:spPr>
            <a:solidFill xmlns:a="http://schemas.openxmlformats.org/drawingml/2006/main">
              <a:srgbClr val="146B76"/>
            </a:solidFill>
          </c:spPr>
          <c:invertIfNegative val="0"/>
          <c:cat>
            <c:strLit>
              <c:ptCount val="4"/>
              <c:pt idx="0">
                <c:v>Cụm 0</c:v>
              </c:pt>
              <c:pt idx="1">
                <c:v>Cụm 1</c:v>
              </c:pt>
              <c:pt idx="2">
                <c:v>Cụm 2</c:v>
              </c:pt>
              <c:pt idx="3">
                <c:v>Cụm 3</c:v>
              </c:pt>
            </c:strLit>
          </c:cat>
          <c:val>
            <c:numLit>
              <c:formatCode>#,##0</c:formatCode>
              <c:ptCount val="4"/>
              <c:pt idx="0">
                <c:v>37665</c:v>
              </c:pt>
              <c:pt idx="1">
                <c:v>36601</c:v>
              </c:pt>
              <c:pt idx="2">
                <c:v>2801</c:v>
              </c:pt>
              <c:pt idx="3">
                <c:v>16291</c:v>
              </c:pt>
            </c:numLit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5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F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6FE66-6E64-4AFB-8F1B-C8AC3113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93D7D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93D7D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93D7D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93D7D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93D7D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93D7D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93D7D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93D7D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93D7D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93D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93D7D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3D7D8"/>
                </a:solidFill>
                <a:latin typeface="Arial"/>
                <a:ea typeface="Arial"/>
                <a:cs typeface="Arial"/>
              </a:rPr>
              <a:t>OLIST CUSTOMER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5FA24-9131-4D64-B7D0-ECC08F43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76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Phân tích khách hàng</a:t>
            </a:r>
          </a:p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và nguy cơ không mua lại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44089-A972-4B9F-8432-4616FD7A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1477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C5E2E3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C5E2E3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C5E2E3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C5E2E3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C5E2E3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C5E2E3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C5E2E3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C5E2E3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C5E2E3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C5E2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C5E2E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C5E2E3"/>
                </a:solidFill>
                <a:latin typeface="Arial"/>
                <a:ea typeface="Arial"/>
                <a:cs typeface="Arial"/>
              </a:rPr>
              <a:t>MongoDB và Machine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B865B-7122-44C9-B582-4A36CE15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33975"/>
            <a:ext cx="1076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ABDA433708   Nhóm 5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GVHD: Trần Quang Khải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Huy, Thiên, Tâm, Thọ, Ngân</a:t>
            </a:r>
          </a:p>
        </p:txBody>
      </p:sp>
    </p:spTree>
    <p:extLst>
      <p:ext uri="{BB962C8B-B14F-4D97-AF65-F5344CB8AC3E}">
        <p14:creationId xmlns:p14="http://schemas.microsoft.com/office/powerpoint/2010/main" val="1528270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00E7C-5BE9-4511-8493-C7247320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F37"/>
                </a:solidFill>
                <a:latin typeface="Arial"/>
                <a:ea typeface="Arial"/>
                <a:cs typeface="Arial"/>
              </a:rPr>
              <a:t>Nguồn dữ liệu và quy mô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F8BAE-39F7-4430-B7BB-D6E71556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0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F5095-22F7-46AA-A7EB-FD9638444DA5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2857500"/>
                <a:gridCol w="4210050"/>
              </a:tblGrid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Nguồn hoặc bảng</a:t>
                      </a:r>
                    </a:p>
                  </a:txBody>
                  <a:tcPr marL="91440" marR="91440" marT="45720" marB="45720">
                    <a:solidFill>
                      <a:srgbClr val="146B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Quy mô</a:t>
                      </a:r>
                    </a:p>
                  </a:txBody>
                  <a:tcPr marL="91440" marR="91440" marT="45720" marB="45720">
                    <a:solidFill>
                      <a:srgbClr val="146B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Vai trò</a:t>
                      </a:r>
                    </a:p>
                  </a:txBody>
                  <a:tcPr marL="91440" marR="91440" marT="45720" marB="45720">
                    <a:solidFill>
                      <a:srgbClr val="146B76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Olist orders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99.441 đơn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Thời gian và trạng thái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Order items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112.650 dòng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Tiền hàng và cước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Olist toàn bộ 9 CSV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1.550.922 dòng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Snapshot lịch sử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IBGE Localidades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27 bang, 5 vùng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Tham chiếu địa lý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CEF69-D233-4CDF-BA1F-5DE5D576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Thu thập bằng chương trình, giữ raw, nguồn và checksum.</a:t>
            </a:r>
          </a:p>
          <a:p xmlns:a="http://schemas.openxmlformats.org/drawingml/2006/main">
            <a: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Đây là tải dataset công bố sẵn và gọi API.</a:t>
            </a:r>
          </a:p>
        </p:txBody>
      </p:sp>
    </p:spTree>
    <p:extLst>
      <p:ext uri="{BB962C8B-B14F-4D97-AF65-F5344CB8AC3E}">
        <p14:creationId xmlns:p14="http://schemas.microsoft.com/office/powerpoint/2010/main" val="9794639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77CB6-2A9D-411D-8ED6-5D72BDE6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F37"/>
                </a:solidFill>
                <a:latin typeface="Arial"/>
                <a:ea typeface="Arial"/>
                <a:cs typeface="Arial"/>
              </a:rPr>
              <a:t>Luồng xử lý và phân công kỹ thuật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C1457-3E1D-4693-A325-515CF440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0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CC346-E1A2-490A-BD62-E8E07844C969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5572125"/>
                <a:gridCol w="3209925"/>
              </a:tblGrid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Phụ trách</a:t>
                      </a:r>
                    </a:p>
                  </a:txBody>
                  <a:tcPr marL="91440" marR="91440" marT="45720" marB="45720">
                    <a:solidFill>
                      <a:srgbClr val="146B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Sản phẩm</a:t>
                      </a:r>
                    </a:p>
                  </a:txBody>
                  <a:tcPr marL="91440" marR="91440" marT="45720" marB="45720">
                    <a:solidFill>
                      <a:srgbClr val="146B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Người nhận</a:t>
                      </a:r>
                    </a:p>
                  </a:txBody>
                  <a:tcPr marL="91440" marR="91440" marT="45720" marB="45720">
                    <a:solidFill>
                      <a:srgbClr val="146B76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Huy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Olist, IBGE và metadata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Thiên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Thiên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CSV sạch và MongoDB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Tâm, Thọ, Ngân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Tâm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EDA, RFM, Power BI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Thọ, Ngân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Thọ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Cụm, điểm ML, đơn bất thường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Tâm, Ngân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Ngân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Web tra cứu và chăm sóc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Người dùng cuối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02416-838B-4260-857F-93461752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Checksum và hợp đồng dữ liệu giúp các phần dùng cùng phiên bản.</a:t>
            </a:r>
          </a:p>
        </p:txBody>
      </p:sp>
    </p:spTree>
    <p:extLst>
      <p:ext uri="{BB962C8B-B14F-4D97-AF65-F5344CB8AC3E}">
        <p14:creationId xmlns:p14="http://schemas.microsoft.com/office/powerpoint/2010/main" val="6055136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64525-CB41-4575-8D39-216948D7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F37"/>
                </a:solidFill>
                <a:latin typeface="Arial"/>
                <a:ea typeface="Arial"/>
                <a:cs typeface="Arial"/>
              </a:rPr>
              <a:t>Mô hình dữ liệu và khóa nối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3C14C-9007-44C2-BBBC-7725D580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0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9B1B5-8CFF-4860-BAD7-D5711A153F5A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191000"/>
                <a:gridCol w="3924300"/>
              </a:tblGrid>
              <a:tr h="635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Đối tượng</a:t>
                      </a:r>
                    </a:p>
                  </a:txBody>
                  <a:tcPr marL="91440" marR="91440" marT="45720" marB="45720">
                    <a:solidFill>
                      <a:srgbClr val="146B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Khóa chính hoặc mức chi tiết</a:t>
                      </a:r>
                    </a:p>
                  </a:txBody>
                  <a:tcPr marL="91440" marR="91440" marT="45720" marB="45720">
                    <a:solidFill>
                      <a:srgbClr val="146B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 hệ</a:t>
                      </a:r>
                    </a:p>
                  </a:txBody>
                  <a:tcPr marL="91440" marR="91440" marT="45720" marB="45720">
                    <a:solidFill>
                      <a:srgbClr val="146B76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Khách hàng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customer_id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customer_unique_id cho RFM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Đơn hàng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order_id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Một khách theo đơn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Chi tiết sản phẩm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order_id + order_item_id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Nhiều item mỗi đơn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Thanh toán, review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Giữ mức chi tiết gốc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Có thể nhiều dòng mỗi đơn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geo_by_zip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ZIP 5 chữ số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Một tọa độ tổng hợp mỗi ZIP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9206B-DC69-4878-8A5F-C04417B0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Tổng hợp về order_id trước khi nối giúp tránh cộng lặp GMV.</a:t>
            </a:r>
          </a:p>
        </p:txBody>
      </p:sp>
    </p:spTree>
    <p:extLst>
      <p:ext uri="{BB962C8B-B14F-4D97-AF65-F5344CB8AC3E}">
        <p14:creationId xmlns:p14="http://schemas.microsoft.com/office/powerpoint/2010/main" val="19137929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D52C5-6E42-4C6B-8121-960720F3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F37"/>
                </a:solidFill>
                <a:latin typeface="Arial"/>
                <a:ea typeface="Arial"/>
                <a:cs typeface="Arial"/>
              </a:rPr>
              <a:t>Làm sạch có giữ dấu chất lượng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1E6CD-AA11-45A2-AFE7-02C2DB59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0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5A04E-01FC-4322-BFB1-5E25D87C4F2F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2000250"/>
                <a:gridCol w="4876800"/>
              </a:tblGrid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 hợp</a:t>
                      </a:r>
                    </a:p>
                  </a:txBody>
                  <a:tcPr marL="91440" marR="91440" marT="45720" marB="45720">
                    <a:solidFill>
                      <a:srgbClr val="146B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Số lượng</a:t>
                      </a:r>
                    </a:p>
                  </a:txBody>
                  <a:tcPr marL="91440" marR="91440" marT="45720" marB="45720">
                    <a:solidFill>
                      <a:srgbClr val="146B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Quy tắc sử dụng</a:t>
                      </a:r>
                    </a:p>
                  </a:txBody>
                  <a:tcPr marL="91440" marR="91440" marT="45720" marB="45720">
                    <a:solidFill>
                      <a:srgbClr val="146B76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Delivered thiếu ngày giao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8 đơn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Giữ đơn, loại khỏi KPI thời gian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Đủ điều kiện KPI giao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95.097 đơn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valid_delay_kpi = true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Review trước ngày mua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64 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Giữ chi tiết, loại khỏi điểm TB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Review cùng ngày chưa rõ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10 review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Giữ trạng thái chưa chắc chắn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Tọa độ tổng hợp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19.015 ZIP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Giữ cờ xung đột và ngoại lệ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21B85-F2E9-46F9-B7E9-08905849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Không lấp ngày thiếu bằng độ trễ cố định. Không xóa mọi giá trị 0.</a:t>
            </a:r>
          </a:p>
        </p:txBody>
      </p:sp>
    </p:spTree>
    <p:extLst>
      <p:ext uri="{BB962C8B-B14F-4D97-AF65-F5344CB8AC3E}">
        <p14:creationId xmlns:p14="http://schemas.microsoft.com/office/powerpoint/2010/main" val="21199696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8C6C2-AB4F-4EBD-82E5-BF8CE106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F37"/>
                </a:solidFill>
                <a:latin typeface="Arial"/>
                <a:ea typeface="Arial"/>
                <a:cs typeface="Arial"/>
              </a:rPr>
              <a:t>MongoDB thật và phục hồi dữ liệu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77591-0D23-45F9-9AD8-23941AC0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0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7C2BF-3F7A-4D89-AB83-C53B014283A1}"/>
              </a:ext>
            </a:extLst>
          </p:cNvPr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62375"/>
                <a:gridCol w="7210425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Kiểm chứng</a:t>
                      </a:r>
                    </a:p>
                  </a:txBody>
                  <a:tcPr marL="91440" marR="91440" marT="45720" marB="45720">
                    <a:solidFill>
                      <a:srgbClr val="146B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Kết quả</a:t>
                      </a:r>
                    </a:p>
                  </a:txBody>
                  <a:tcPr marL="91440" marR="91440" marT="45720" marB="45720">
                    <a:solidFill>
                      <a:srgbClr val="146B7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Database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10 collection, 1.569.937 document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BSON và schema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Ngày date, tiền double, cờ bool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Khóa tham chiếu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6 quan hệ kiểm tra, 0 mồ côi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Backup và restore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Số dòng, BSON hash, index, validator khớp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9AF84-EBA3-42E4-B1B1-75961D0D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Archive gzip 53.78 MiB.</a:t>
            </a:r>
          </a:p>
          <a:p xmlns:a="http://schemas.openxmlformats.org/drawingml/2006/main">
            <a: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Database nguồn giữ nguyên sau lần kiểm chứng.</a:t>
            </a:r>
          </a:p>
        </p:txBody>
      </p:sp>
    </p:spTree>
    <p:extLst>
      <p:ext uri="{BB962C8B-B14F-4D97-AF65-F5344CB8AC3E}">
        <p14:creationId xmlns:p14="http://schemas.microsoft.com/office/powerpoint/2010/main" val="13777422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9FE1A-E8E9-40AA-9141-B77FB85F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F37"/>
                </a:solidFill>
                <a:latin typeface="Arial"/>
                <a:ea typeface="Arial"/>
                <a:cs typeface="Arial"/>
              </a:rPr>
              <a:t>Giao hàng và đánh giá của khách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37AFF-CA1E-4731-AA7E-53E37BF1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0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C518CA7E-8287-43E5-96B8-F30073C4C392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695325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ba020f06eb415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47D78-DEA2-4600-9BDC-EC0DE6FB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76450"/>
            <a:ext cx="3390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46B76"/>
                </a:solidFill>
                <a:latin typeface="Arial"/>
                <a:ea typeface="Arial"/>
                <a:cs typeface="Arial"/>
              </a:rPr>
              <a:t>8,19%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0D1BF-261C-408B-BB3D-5C68039C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0375"/>
            <a:ext cx="339090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F37"/>
                </a:solidFill>
                <a:latin typeface="Arial"/>
                <a:ea typeface="Arial"/>
                <a:cs typeface="Arial"/>
              </a:rPr>
              <a:t>đơn giao trễ</a:t>
            </a:r>
          </a:p>
          <a:p xmlns:a="http://schemas.openxmlformats.org/drawingml/2006/main">
            <a:pPr>
              <a:defRPr sz="21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F37"/>
                </a:solidFill>
                <a:latin typeface="Arial"/>
                <a:ea typeface="Arial"/>
                <a:cs typeface="Arial"/>
              </a:rPr>
              <a:t>7.793 / 95.097 đơn</a:t>
            </a:r>
          </a:p>
          <a:p xmlns:a="http://schemas.openxmlformats.org/drawingml/2006/main">
            <a:pPr>
              <a:defRPr sz="21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F37"/>
                </a:solidFill>
                <a:latin typeface="Arial"/>
                <a:ea typeface="Arial"/>
                <a:cs typeface="Arial"/>
              </a:rPr>
              <a:t>đủ điều kiện KPI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EA4E3-197D-470A-9F24-B3FD9755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Điểm đánh giá trung bình trên thang 1–5.</a:t>
            </a:r>
          </a:p>
          <a:p xmlns:a="http://schemas.openxmlformats.org/drawingml/2006/main">
            <a: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Chênh lệch quan sát chưa chứng minh quan hệ nhân quả.</a:t>
            </a:r>
          </a:p>
        </p:txBody>
      </p:sp>
    </p:spTree>
    <p:extLst>
      <p:ext uri="{BB962C8B-B14F-4D97-AF65-F5344CB8AC3E}">
        <p14:creationId xmlns:p14="http://schemas.microsoft.com/office/powerpoint/2010/main" val="6799411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1E73C-C8B5-4A5C-B9DC-AFF02A5D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F37"/>
                </a:solidFill>
                <a:latin typeface="Arial"/>
                <a:ea typeface="Arial"/>
                <a:cs typeface="Arial"/>
              </a:rPr>
              <a:t>RFM và bốn cụm K Means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A1177-8E08-4687-A41B-2362AF78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0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BFD4824A-5829-42CB-AD05-0C2F0E6123AB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695325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9aed97b72c48b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21AE3-D563-4355-9033-1433DBB4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71675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46B76"/>
                </a:solidFill>
                <a:latin typeface="Arial"/>
                <a:ea typeface="Arial"/>
                <a:cs typeface="Arial"/>
              </a:rPr>
              <a:t>93.358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9FCFB-25E7-4851-B305-7615480A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34290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2F37"/>
                </a:solidFill>
                <a:latin typeface="Arial"/>
                <a:ea typeface="Arial"/>
                <a:cs typeface="Arial"/>
              </a:rPr>
              <a:t>khách trong RFM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2F37"/>
                </a:solidFill>
                <a:latin typeface="Arial"/>
                <a:ea typeface="Arial"/>
                <a:cs typeface="Arial"/>
              </a:rPr>
              <a:t>Silhouette 0,3918</a:t>
            </a:r>
          </a:p>
          <a:p xmlns:a="http://schemas.openxmlformats.org/drawingml/2006/main">
            <a: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2F37"/>
                </a:solidFill>
                <a:latin typeface="Arial"/>
                <a:ea typeface="Arial"/>
                <a:cs typeface="Arial"/>
              </a:rPr>
              <a:t>ARI ổn định 0,9992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80C0C-581B-498F-97E1-38ED7067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Cụm 2 gồm 2.801 khách có mua lặp lại.</a:t>
            </a:r>
          </a:p>
          <a:p xmlns:a="http://schemas.openxmlformats.org/drawingml/2006/main">
            <a: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Tên cụm mô tả thống kê, chưa xác nhận phản hồi chiến dịch.</a:t>
            </a:r>
          </a:p>
        </p:txBody>
      </p:sp>
    </p:spTree>
    <p:extLst>
      <p:ext uri="{BB962C8B-B14F-4D97-AF65-F5344CB8AC3E}">
        <p14:creationId xmlns:p14="http://schemas.microsoft.com/office/powerpoint/2010/main" val="14233004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D852A-67A9-40F3-A147-3EA6B430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F37"/>
                </a:solidFill>
                <a:latin typeface="Arial"/>
                <a:ea typeface="Arial"/>
                <a:cs typeface="Arial"/>
              </a:rPr>
              <a:t>Nhãn không mua lại trong 180 ngày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19B5D-BE6C-4CA1-B120-BC327262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0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70420-A06B-4B3B-94F9-4386C1C13127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77050"/>
              </a:tblGrid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Giai đoạn</a:t>
                      </a:r>
                    </a:p>
                  </a:txBody>
                  <a:tcPr marL="91440" marR="91440" marT="45720" marB="45720">
                    <a:solidFill>
                      <a:srgbClr val="146B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Quy tắc</a:t>
                      </a:r>
                    </a:p>
                  </a:txBody>
                  <a:tcPr marL="91440" marR="91440" marT="45720" marB="45720">
                    <a:solidFill>
                      <a:srgbClr val="146B76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Trước T0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Tính đặc trưng từ thông tin đã sẵn có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Sau T0 trong 180 ngày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Có mua lại: 0; không mua lại: 1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Test tại 01/03/2018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944 khách: 48 mua lại, 896 không mua lại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Cuối quan sát 31/08/2018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Còn giả định, chưa được nguồn xác nhận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50817-0841-4289-8705-FB7330B7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RFM toàn kỳ không được dùng để dự đoán ngược tại T0.</a:t>
            </a:r>
          </a:p>
          <a:p xmlns:a="http://schemas.openxmlformats.org/drawingml/2006/main">
            <a: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Đây là nhãn proxy, không phải nhãn rời bỏ chính thức.</a:t>
            </a:r>
          </a:p>
        </p:txBody>
      </p:sp>
    </p:spTree>
    <p:extLst>
      <p:ext uri="{BB962C8B-B14F-4D97-AF65-F5344CB8AC3E}">
        <p14:creationId xmlns:p14="http://schemas.microsoft.com/office/powerpoint/2010/main" val="7000255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B2E1D-4FE8-420C-ADD2-0F3E6CA6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F37"/>
                </a:solidFill>
                <a:latin typeface="Arial"/>
                <a:ea typeface="Arial"/>
                <a:cs typeface="Arial"/>
              </a:rPr>
              <a:t>Kết quả mô hình giám sát và giới hạn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6D8E8-4BC2-44A1-82C3-ED7B5E2F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0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C4B54-7E38-46DD-BA19-88D3F8C01946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305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76875"/>
                <a:gridCol w="5495925"/>
              </a:tblGrid>
              <a:tr h="66103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Chỉ số test</a:t>
                      </a:r>
                    </a:p>
                  </a:txBody>
                  <a:tcPr marL="91440" marR="91440" marT="45720" marB="45720">
                    <a:solidFill>
                      <a:srgbClr val="146B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Random Forest</a:t>
                      </a:r>
                    </a:p>
                  </a:txBody>
                  <a:tcPr marL="91440" marR="91440" marT="45720" marB="45720">
                    <a:solidFill>
                      <a:srgbClr val="146B76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0,9492 = baseline lớp đa số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Recall mua lại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0,0000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ROC-AUC churn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0,6420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AP mua lại / tỷ lệ nền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0,0806 / 0,0508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B1939-74A1-4073-B92B-EABEC9FA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Validation chưa đủ điều kiện và xác suất chưa hiệu chuẩn.</a:t>
            </a:r>
          </a:p>
          <a:p xmlns:a="http://schemas.openxmlformats.org/drawingml/2006/main">
            <a: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Kết quả thử nghiệm, chưa được kiểm chứng cho triển khai.</a:t>
            </a:r>
          </a:p>
        </p:txBody>
      </p:sp>
    </p:spTree>
    <p:extLst>
      <p:ext uri="{BB962C8B-B14F-4D97-AF65-F5344CB8AC3E}">
        <p14:creationId xmlns:p14="http://schemas.microsoft.com/office/powerpoint/2010/main" val="6464319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26286-54E7-4C3F-BD7B-A55D862B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F37"/>
                </a:solidFill>
                <a:latin typeface="Arial"/>
                <a:ea typeface="Arial"/>
                <a:cs typeface="Arial"/>
              </a:rPr>
              <a:t>Isolation Forest và đơn cần kiểm tra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AC7D1-E0AC-41C8-9A3B-A002288C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0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CFD69-0D89-44D5-A858-43846B61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3815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200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defPPr>
            <a:lvl1pPr>
              <a:defRPr sz="7200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1pPr>
            <a:lvl2pPr>
              <a:defRPr sz="7200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2pPr>
            <a:lvl3pPr>
              <a:defRPr sz="7200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3pPr>
            <a:lvl4pPr>
              <a:defRPr sz="7200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4pPr>
            <a:lvl5pPr>
              <a:defRPr sz="7200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5pPr>
            <a:lvl6pPr>
              <a:defRPr sz="7200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6pPr>
            <a:lvl7pPr>
              <a:defRPr sz="7200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7pPr>
            <a:lvl8pPr>
              <a:defRPr sz="7200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8pPr>
            <a:lvl9pPr>
              <a:defRPr sz="7200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200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146B76"/>
                </a:solidFill>
                <a:latin typeface="Arial"/>
                <a:ea typeface="Arial"/>
                <a:cs typeface="Arial"/>
              </a:rPr>
              <a:t>965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63DD0-4CED-4B23-9056-997F15B4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46672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32F37"/>
                </a:solidFill>
                <a:latin typeface="Arial"/>
                <a:ea typeface="Arial"/>
                <a:cs typeface="Arial"/>
              </a:rPr>
              <a:t>đơn được gắn cờ</a:t>
            </a:r>
          </a:p>
          <a:p xmlns:a="http://schemas.openxmlformats.org/drawingml/2006/main">
            <a:pPr>
              <a:defRPr sz="240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32F37"/>
                </a:solidFill>
                <a:latin typeface="Arial"/>
                <a:ea typeface="Arial"/>
                <a:cs typeface="Arial"/>
              </a:rPr>
              <a:t>trong 96.478 đơn đã giao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DE722-1898-4F46-9224-BB7A6CEA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914525"/>
            <a:ext cx="5610225" cy="2695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32F37"/>
                </a:solidFill>
                <a:latin typeface="Arial"/>
                <a:ea typeface="Arial"/>
                <a:cs typeface="Arial"/>
              </a:rPr>
              <a:t>contamination = 0,01</a:t>
            </a:r>
          </a:p>
          <a:p xmlns:a="http://schemas.openxmlformats.org/drawingml/2006/main">
            <a: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32F37"/>
                </a:solidFill>
                <a:latin typeface="Arial"/>
                <a:ea typeface="Arial"/>
                <a:cs typeface="Arial"/>
              </a:rPr>
              <a:t>Điểm cao hơn: khác biệt hơn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32F37"/>
                </a:solidFill>
                <a:latin typeface="Arial"/>
                <a:ea typeface="Arial"/>
                <a:cs typeface="Arial"/>
              </a:rPr>
              <a:t>Không có nhãn bất thường thật</a:t>
            </a:r>
          </a:p>
          <a:p xmlns:a="http://schemas.openxmlformats.org/drawingml/2006/main">
            <a: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32F37"/>
                </a:solidFill>
                <a:latin typeface="Arial"/>
                <a:ea typeface="Arial"/>
                <a:cs typeface="Arial"/>
              </a:rPr>
              <a:t>Cần kiểm tra đơn gốc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E002F-A57D-4681-B12F-2D0E60CF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Tỷ lệ khoảng 1% chịu ảnh hưởng tham số mô hình.</a:t>
            </a:r>
          </a:p>
          <a:p xmlns:a="http://schemas.openxmlformats.org/drawingml/2006/main">
            <a: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Cờ bất thường không xác nhận lỗi hoặc gian lận.</a:t>
            </a:r>
          </a:p>
        </p:txBody>
      </p:sp>
    </p:spTree>
    <p:extLst>
      <p:ext uri="{BB962C8B-B14F-4D97-AF65-F5344CB8AC3E}">
        <p14:creationId xmlns:p14="http://schemas.microsoft.com/office/powerpoint/2010/main" val="13206659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CF395-C9D0-423A-A294-DC3D8F6B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F37"/>
                </a:solidFill>
                <a:latin typeface="Arial"/>
                <a:ea typeface="Arial"/>
                <a:cs typeface="Arial"/>
              </a:rPr>
              <a:t>Website tra cứu và chăm sóc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98E43-A745-45DF-8518-D3D96693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0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8444D-CFF3-4F2A-83E2-5E4256822B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e01faae0f4214"/>
          <a:stretch xmlns:a="http://schemas.openxmlformats.org/drawingml/2006/main"/>
        </p:blipFill>
        <p:spPr>
          <a:xfrm xmlns:a="http://schemas.openxmlformats.org/drawingml/2006/main">
            <a:off x="609600" y="1581150"/>
            <a:ext cx="7239000" cy="4524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65A69-FCD9-43F2-8DFF-C966F9CC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743075"/>
            <a:ext cx="341947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2F37"/>
                </a:solidFill>
                <a:latin typeface="Arial"/>
                <a:ea typeface="Arial"/>
                <a:cs typeface="Arial"/>
              </a:rPr>
              <a:t>Admin và Analyst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2F37"/>
                </a:solidFill>
                <a:latin typeface="Arial"/>
                <a:ea typeface="Arial"/>
                <a:cs typeface="Arial"/>
              </a:rPr>
              <a:t>Tìm đơn, khách và 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2F37"/>
                </a:solidFill>
                <a:latin typeface="Arial"/>
                <a:ea typeface="Arial"/>
                <a:cs typeface="Arial"/>
              </a:rPr>
              <a:t>CRUD chăm sóc, chiến dịch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2F37"/>
                </a:solidFill>
                <a:latin typeface="Arial"/>
                <a:ea typeface="Arial"/>
                <a:cs typeface="Arial"/>
              </a:rPr>
              <a:t>Xuất CSV, Excel và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2F37"/>
                </a:solidFill>
                <a:latin typeface="Arial"/>
                <a:ea typeface="Arial"/>
                <a:cs typeface="Arial"/>
              </a:rPr>
              <a:t>Tải PBIX 5 trang</a:t>
            </a:r>
          </a:p>
        </p:txBody>
      </p:sp>
    </p:spTree>
    <p:extLst>
      <p:ext uri="{BB962C8B-B14F-4D97-AF65-F5344CB8AC3E}">
        <p14:creationId xmlns:p14="http://schemas.microsoft.com/office/powerpoint/2010/main" val="15282445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1CD75-D220-4E2A-8343-33431EC0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F37"/>
                </a:solidFill>
                <a:latin typeface="Arial"/>
                <a:ea typeface="Arial"/>
                <a:cs typeface="Arial"/>
              </a:rPr>
              <a:t>Kiểm thử và hồ sơ bàn giao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F0D46-708C-4FED-8AC4-D7731E4D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0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41BAB-60AD-4B5B-93CD-18EFA3D01285}"/>
              </a:ext>
            </a:extLst>
          </p:cNvPr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838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43375"/>
                <a:gridCol w="6829425"/>
              </a:tblGrid>
              <a:tr h="6397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Phạm vi</a:t>
                      </a:r>
                    </a:p>
                  </a:txBody>
                  <a:tcPr marL="91440" marR="91440" marT="45720" marB="45720">
                    <a:solidFill>
                      <a:srgbClr val="146B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Kết quả</a:t>
                      </a:r>
                    </a:p>
                  </a:txBody>
                  <a:tcPr marL="91440" marR="91440" marT="45720" marB="45720">
                    <a:solidFill>
                      <a:srgbClr val="146B76"/>
                    </a:solidFill>
                  </a:tcPr>
                </a:tc>
              </a:tr>
              <a:tr h="6397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Kiểm thử Python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113 kiểm thử thành công trong lượt đối soát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7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ETL làm lại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11 CSV khớp SHA-256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</a:tr>
              <a:tr h="6397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Snapshot ML sang BI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96.089 khóa và 19 cột khớp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7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MongoDB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Import, kiểu dữ liệu, index, backup/restore thật</a:t>
                      </a:r>
                    </a:p>
                  </a:txBody>
                  <a:tcPr marL="91440" marR="91440" marT="45720" marB="45720">
                    <a:solidFill>
                      <a:srgbClr val="EEF4F4"/>
                    </a:solidFill>
                  </a:tcPr>
                </a:tc>
              </a:tr>
              <a:tr h="6397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Hồ sơ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F37"/>
                          </a:solidFill>
                          <a:latin typeface="Arial"/>
                          <a:ea typeface="Arial"/>
                          <a:cs typeface="Arial"/>
                        </a:rPr>
                        <a:t>Báo cáo DOCX/PDF, slides, phân công, tự chấm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A1BF0-CA9F-49A1-B402-985872C9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Vấn đáp cá nhân và điểm cuối cùng do giảng viên đánh giá.</a:t>
            </a:r>
          </a:p>
        </p:txBody>
      </p:sp>
    </p:spTree>
    <p:extLst>
      <p:ext uri="{BB962C8B-B14F-4D97-AF65-F5344CB8AC3E}">
        <p14:creationId xmlns:p14="http://schemas.microsoft.com/office/powerpoint/2010/main" val="11993000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21AFF-41D1-41A6-96A0-B387AFBC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F37"/>
                </a:solidFill>
                <a:latin typeface="Arial"/>
                <a:ea typeface="Arial"/>
                <a:cs typeface="Arial"/>
              </a:rPr>
              <a:t>Nhận định và hướng phát triển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35E66-4582-4E6D-8D71-E13CF9E9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0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66B67-17B6-4C8F-83D8-2B1BBF2F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6B7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6B76"/>
                </a:solidFill>
                <a:latin typeface="Arial"/>
                <a:ea typeface="Arial"/>
                <a:cs typeface="Arial"/>
              </a:rPr>
              <a:t>Mua lặp lại lịch sử khoảng 3,00%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B9748-9DDA-4738-9755-FB4533CE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10858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32F37"/>
                </a:solidFill>
                <a:latin typeface="Arial"/>
                <a:ea typeface="Arial"/>
                <a:cs typeface="Arial"/>
              </a:rPr>
              <a:t>Ưu tiên cải thiện trải nghiệm giao hàng và thử nghiệm chăm sóc</a:t>
            </a:r>
          </a:p>
          <a:p xmlns:a="http://schemas.openxmlformats.org/drawingml/2006/main">
            <a: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32F37"/>
                </a:solidFill>
                <a:latin typeface="Arial"/>
                <a:ea typeface="Arial"/>
                <a:cs typeface="Arial"/>
              </a:rPr>
              <a:t>có nhóm đối chứng trước khi mở rộng chiến dịch.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E2335-251F-4F6E-ADE9-12645DFC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858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32F37"/>
                </a:solidFill>
                <a:latin typeface="Arial"/>
                <a:ea typeface="Arial"/>
                <a:cs typeface="Arial"/>
              </a:rPr>
              <a:t>Cần thêm lịch sử và xác nhận mốc quan sát để đánh giá lại mô hình</a:t>
            </a:r>
          </a:p>
          <a:p xmlns:a="http://schemas.openxmlformats.org/drawingml/2006/main">
            <a:pPr>
              <a:defRPr sz="2250" b="0">
                <a:solidFill>
                  <a:srgbClr val="132F3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32F37"/>
                </a:solidFill>
                <a:latin typeface="Arial"/>
                <a:ea typeface="Arial"/>
                <a:cs typeface="Arial"/>
              </a:rPr>
              <a:t>180 ngày, hoàn thiện validation và hiệu chuẩn điểm.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64095-7071-4771-A861-E0753EC4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Sản phẩm hiện tại phục vụ phân tích và minh họa quy trình.</a:t>
            </a:r>
          </a:p>
          <a:p xmlns:a="http://schemas.openxmlformats.org/drawingml/2006/main">
            <a:pPr>
              <a:defRPr sz="2175" b="0">
                <a:solidFill>
                  <a:srgbClr val="54636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4636A"/>
                </a:solidFill>
                <a:latin typeface="Arial"/>
                <a:ea typeface="Arial"/>
                <a:cs typeface="Arial"/>
              </a:rPr>
              <a:t>Không diễn giải điểm thử nghiệm thành xác suất rời bỏ chắc chắn.</a:t>
            </a:r>
          </a:p>
        </p:txBody>
      </p:sp>
    </p:spTree>
    <p:extLst>
      <p:ext uri="{BB962C8B-B14F-4D97-AF65-F5344CB8AC3E}">
        <p14:creationId xmlns:p14="http://schemas.microsoft.com/office/powerpoint/2010/main" val="13560380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2026-10-29T19:44:23.8120000Z</dcterms:created>
  <dcterms:modified xsi:type="dcterms:W3CDTF">2026-10-29T19:44:23.8120000Z</dcterms:modified>
</coreProperties>
</file>